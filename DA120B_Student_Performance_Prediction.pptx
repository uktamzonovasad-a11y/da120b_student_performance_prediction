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Bold" charset="1" panose="00000800000000000000"/>
      <p:regular r:id="rId17"/>
    </p:embeddedFont>
    <p:embeddedFont>
      <p:font typeface="Poppins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04232" y="2015966"/>
            <a:ext cx="6255068" cy="6255068"/>
          </a:xfrm>
          <a:custGeom>
            <a:avLst/>
            <a:gdLst/>
            <a:ahLst/>
            <a:cxnLst/>
            <a:rect r="r" b="b" t="t" l="l"/>
            <a:pathLst>
              <a:path h="6255068" w="6255068">
                <a:moveTo>
                  <a:pt x="0" y="0"/>
                </a:moveTo>
                <a:lnTo>
                  <a:pt x="6255068" y="0"/>
                </a:lnTo>
                <a:lnTo>
                  <a:pt x="6255068" y="6255068"/>
                </a:lnTo>
                <a:lnTo>
                  <a:pt x="0" y="62550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5384437"/>
            <a:ext cx="6947174" cy="1438812"/>
            <a:chOff x="0" y="0"/>
            <a:chExt cx="1829708" cy="3789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9708" cy="378946"/>
            </a:xfrm>
            <a:custGeom>
              <a:avLst/>
              <a:gdLst/>
              <a:ahLst/>
              <a:cxnLst/>
              <a:rect r="r" b="b" t="t" l="l"/>
              <a:pathLst>
                <a:path h="378946" w="1829708">
                  <a:moveTo>
                    <a:pt x="111440" y="0"/>
                  </a:moveTo>
                  <a:lnTo>
                    <a:pt x="1718269" y="0"/>
                  </a:lnTo>
                  <a:cubicBezTo>
                    <a:pt x="1779815" y="0"/>
                    <a:pt x="1829708" y="49893"/>
                    <a:pt x="1829708" y="111440"/>
                  </a:cubicBezTo>
                  <a:lnTo>
                    <a:pt x="1829708" y="267506"/>
                  </a:lnTo>
                  <a:cubicBezTo>
                    <a:pt x="1829708" y="297062"/>
                    <a:pt x="1817968" y="325407"/>
                    <a:pt x="1797068" y="346306"/>
                  </a:cubicBezTo>
                  <a:cubicBezTo>
                    <a:pt x="1776169" y="367205"/>
                    <a:pt x="1747824" y="378946"/>
                    <a:pt x="1718269" y="378946"/>
                  </a:cubicBezTo>
                  <a:lnTo>
                    <a:pt x="111440" y="378946"/>
                  </a:lnTo>
                  <a:cubicBezTo>
                    <a:pt x="81884" y="378946"/>
                    <a:pt x="53539" y="367205"/>
                    <a:pt x="32640" y="346306"/>
                  </a:cubicBezTo>
                  <a:cubicBezTo>
                    <a:pt x="11741" y="325407"/>
                    <a:pt x="0" y="297062"/>
                    <a:pt x="0" y="267506"/>
                  </a:cubicBezTo>
                  <a:lnTo>
                    <a:pt x="0" y="111440"/>
                  </a:lnTo>
                  <a:cubicBezTo>
                    <a:pt x="0" y="81884"/>
                    <a:pt x="11741" y="53539"/>
                    <a:pt x="32640" y="32640"/>
                  </a:cubicBezTo>
                  <a:cubicBezTo>
                    <a:pt x="53539" y="11741"/>
                    <a:pt x="81884" y="0"/>
                    <a:pt x="111440" y="0"/>
                  </a:cubicBezTo>
                  <a:close/>
                </a:path>
              </a:pathLst>
            </a:custGeom>
            <a:ln w="8572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829708" cy="436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28700" y="1028700"/>
            <a:ext cx="642386" cy="729984"/>
          </a:xfrm>
          <a:custGeom>
            <a:avLst/>
            <a:gdLst/>
            <a:ahLst/>
            <a:cxnLst/>
            <a:rect r="r" b="b" t="t" l="l"/>
            <a:pathLst>
              <a:path h="729984" w="642386">
                <a:moveTo>
                  <a:pt x="0" y="0"/>
                </a:moveTo>
                <a:lnTo>
                  <a:pt x="642386" y="0"/>
                </a:lnTo>
                <a:lnTo>
                  <a:pt x="642386" y="729984"/>
                </a:lnTo>
                <a:lnTo>
                  <a:pt x="0" y="7299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3339927"/>
            <a:ext cx="11021062" cy="1626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42"/>
              </a:lnSpc>
              <a:spcBef>
                <a:spcPct val="0"/>
              </a:spcBef>
            </a:pPr>
            <a:r>
              <a:rPr lang="en-US" b="true" sz="460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DA120B_Student_Performance_Prediction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9431" y="5743480"/>
            <a:ext cx="6085713" cy="58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11"/>
              </a:lnSpc>
              <a:spcBef>
                <a:spcPct val="0"/>
              </a:spcBef>
            </a:pPr>
            <a:r>
              <a:rPr lang="en-US" sz="32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Analytics Course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65570" y="755909"/>
            <a:ext cx="6109915" cy="6775017"/>
          </a:xfrm>
          <a:custGeom>
            <a:avLst/>
            <a:gdLst/>
            <a:ahLst/>
            <a:cxnLst/>
            <a:rect r="r" b="b" t="t" l="l"/>
            <a:pathLst>
              <a:path h="6775017" w="6109915">
                <a:moveTo>
                  <a:pt x="0" y="0"/>
                </a:moveTo>
                <a:lnTo>
                  <a:pt x="6109915" y="0"/>
                </a:lnTo>
                <a:lnTo>
                  <a:pt x="6109915" y="6775017"/>
                </a:lnTo>
                <a:lnTo>
                  <a:pt x="0" y="67750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642386" cy="729984"/>
          </a:xfrm>
          <a:custGeom>
            <a:avLst/>
            <a:gdLst/>
            <a:ahLst/>
            <a:cxnLst/>
            <a:rect r="r" b="b" t="t" l="l"/>
            <a:pathLst>
              <a:path h="729984" w="642386">
                <a:moveTo>
                  <a:pt x="0" y="0"/>
                </a:moveTo>
                <a:lnTo>
                  <a:pt x="642386" y="0"/>
                </a:lnTo>
                <a:lnTo>
                  <a:pt x="642386" y="729984"/>
                </a:lnTo>
                <a:lnTo>
                  <a:pt x="0" y="7299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5323800"/>
            <a:ext cx="6295048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Universities struggle to identify students at risk of poor academic performance early.</a:t>
            </a:r>
          </a:p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factors: attendance, study time, previous grades, internet access, family support, and extracurricular activities.</a:t>
            </a:r>
          </a:p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Early prediction enables timely intervention and improves student success rates.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331250"/>
            <a:ext cx="811530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</a:pPr>
            <a:r>
              <a:rPr lang="en-US" b="true" sz="69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Analysis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398466" y="1079804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00401" y="4786203"/>
            <a:ext cx="10887197" cy="1036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42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"Identifying at-risk students early supports timely intervention and better academic outcomes."</a:t>
            </a:r>
          </a:p>
          <a:p>
            <a:pPr algn="ctr" marL="0" indent="0" lvl="0">
              <a:lnSpc>
                <a:spcPts val="2742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Up to 30% of students face academic difficulties without early identification.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974061" y="3570397"/>
            <a:ext cx="6339878" cy="61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00"/>
              </a:lnSpc>
              <a:spcBef>
                <a:spcPct val="0"/>
              </a:spcBef>
            </a:pPr>
            <a:r>
              <a:rPr lang="en-US" b="true" sz="3357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Why Early Prediction Matters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642386" cy="729984"/>
          </a:xfrm>
          <a:custGeom>
            <a:avLst/>
            <a:gdLst/>
            <a:ahLst/>
            <a:cxnLst/>
            <a:rect r="r" b="b" t="t" l="l"/>
            <a:pathLst>
              <a:path h="729984" w="642386">
                <a:moveTo>
                  <a:pt x="0" y="0"/>
                </a:moveTo>
                <a:lnTo>
                  <a:pt x="642386" y="0"/>
                </a:lnTo>
                <a:lnTo>
                  <a:pt x="642386" y="729984"/>
                </a:lnTo>
                <a:lnTo>
                  <a:pt x="0" y="7299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398466" y="1079804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8255873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37822" y="2057354"/>
            <a:ext cx="6080530" cy="6050127"/>
          </a:xfrm>
          <a:custGeom>
            <a:avLst/>
            <a:gdLst/>
            <a:ahLst/>
            <a:cxnLst/>
            <a:rect r="r" b="b" t="t" l="l"/>
            <a:pathLst>
              <a:path h="6050127" w="6080530">
                <a:moveTo>
                  <a:pt x="0" y="0"/>
                </a:moveTo>
                <a:lnTo>
                  <a:pt x="6080529" y="0"/>
                </a:lnTo>
                <a:lnTo>
                  <a:pt x="6080529" y="6050127"/>
                </a:lnTo>
                <a:lnTo>
                  <a:pt x="0" y="60501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642386" cy="729984"/>
          </a:xfrm>
          <a:custGeom>
            <a:avLst/>
            <a:gdLst/>
            <a:ahLst/>
            <a:cxnLst/>
            <a:rect r="r" b="b" t="t" l="l"/>
            <a:pathLst>
              <a:path h="729984" w="642386">
                <a:moveTo>
                  <a:pt x="0" y="0"/>
                </a:moveTo>
                <a:lnTo>
                  <a:pt x="642386" y="0"/>
                </a:lnTo>
                <a:lnTo>
                  <a:pt x="642386" y="729984"/>
                </a:lnTo>
                <a:lnTo>
                  <a:pt x="0" y="7299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3112175"/>
            <a:ext cx="8115300" cy="184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5"/>
              </a:lnSpc>
            </a:pPr>
            <a:r>
              <a:rPr lang="en-US" b="true" sz="6995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Design &amp; Workflow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104725"/>
            <a:ext cx="5267183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Collection</a:t>
            </a:r>
          </a:p>
          <a:p>
            <a:pPr algn="just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Cleaning</a:t>
            </a:r>
          </a:p>
          <a:p>
            <a:pPr algn="just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Exploratory Data Analysis</a:t>
            </a:r>
          </a:p>
          <a:p>
            <a:pPr algn="just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 Selection</a:t>
            </a:r>
          </a:p>
          <a:p>
            <a:pPr algn="just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 Development → Evaluation → Dashboard Generation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398466" y="8255873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642386" cy="729984"/>
          </a:xfrm>
          <a:custGeom>
            <a:avLst/>
            <a:gdLst/>
            <a:ahLst/>
            <a:cxnLst/>
            <a:rect r="r" b="b" t="t" l="l"/>
            <a:pathLst>
              <a:path h="729984" w="642386">
                <a:moveTo>
                  <a:pt x="0" y="0"/>
                </a:moveTo>
                <a:lnTo>
                  <a:pt x="642386" y="0"/>
                </a:lnTo>
                <a:lnTo>
                  <a:pt x="642386" y="729984"/>
                </a:lnTo>
                <a:lnTo>
                  <a:pt x="0" y="7299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358500" y="1028700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52214" y="1788469"/>
            <a:ext cx="11583573" cy="80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62"/>
              </a:lnSpc>
            </a:pPr>
            <a:r>
              <a:rPr lang="en-US" b="true" sz="567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Plan (8-Week Timeline)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001127"/>
            <a:ext cx="1391880" cy="80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62"/>
              </a:lnSpc>
            </a:pPr>
            <a:r>
              <a:rPr lang="en-US" b="true" sz="567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02737" y="3551434"/>
            <a:ext cx="5877071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Week 1: Problem Definition &amp; Literature Review — Define objectives and review related academic work. Week 2: Dataset Collection — Obtain and verify the Kaggle Student Performance dataset.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02737" y="3043354"/>
            <a:ext cx="4607042" cy="35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8"/>
              </a:lnSpc>
            </a:pPr>
            <a:r>
              <a:rPr lang="en-US" b="true" sz="202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Week 1–2: Foundation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300912"/>
            <a:ext cx="1391880" cy="80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62"/>
              </a:lnSpc>
            </a:pPr>
            <a:r>
              <a:rPr lang="en-US" b="true" sz="567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02737" y="6851219"/>
            <a:ext cx="5877071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Week 3: Data Cleaning &amp; Preparation — Preprocess data and handle missing values. Week 4: Exploratory Data Analysis — Generate statistical and visual insights from the dataset.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02737" y="6343139"/>
            <a:ext cx="5877071" cy="35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8"/>
              </a:lnSpc>
            </a:pPr>
            <a:r>
              <a:rPr lang="en-US" b="true" sz="202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Week 3–4: Data Processing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08192" y="3001127"/>
            <a:ext cx="1391880" cy="80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62"/>
              </a:lnSpc>
            </a:pPr>
            <a:r>
              <a:rPr lang="en-US" b="true" sz="567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82229" y="3551434"/>
            <a:ext cx="5877071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Week 5: Model Development — Build predictive machine learning models using Scikit-learn. Week 6: Model Testing &amp; Evaluation — Assess accuracy, tune hyperparameters, and optimize models.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82229" y="3043354"/>
            <a:ext cx="4607042" cy="35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8"/>
              </a:lnSpc>
            </a:pPr>
            <a:r>
              <a:rPr lang="en-US" b="true" sz="202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Week 5–6: Model Development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08192" y="6300912"/>
            <a:ext cx="1391880" cy="80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62"/>
              </a:lnSpc>
            </a:pPr>
            <a:r>
              <a:rPr lang="en-US" b="true" sz="567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82229" y="6851219"/>
            <a:ext cx="5877071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Week 7: Report Writing &amp; Dashboard Prep — Document findings and create visualization dashboards. Week 8: Final Presentation &amp; Submission — Deliver the final presentation and submit all project deliverables.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382229" y="6343139"/>
            <a:ext cx="4607042" cy="35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8"/>
              </a:lnSpc>
            </a:pPr>
            <a:r>
              <a:rPr lang="en-US" b="true" sz="202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Week 7–8: Reporting &amp; Submission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642386" cy="729984"/>
          </a:xfrm>
          <a:custGeom>
            <a:avLst/>
            <a:gdLst/>
            <a:ahLst/>
            <a:cxnLst/>
            <a:rect r="r" b="b" t="t" l="l"/>
            <a:pathLst>
              <a:path h="729984" w="642386">
                <a:moveTo>
                  <a:pt x="0" y="0"/>
                </a:moveTo>
                <a:lnTo>
                  <a:pt x="642386" y="0"/>
                </a:lnTo>
                <a:lnTo>
                  <a:pt x="642386" y="729984"/>
                </a:lnTo>
                <a:lnTo>
                  <a:pt x="0" y="7299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57060" y="1898070"/>
            <a:ext cx="15373879" cy="976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55"/>
              </a:lnSpc>
              <a:spcBef>
                <a:spcPct val="0"/>
              </a:spcBef>
            </a:pPr>
            <a:r>
              <a:rPr lang="en-US" b="true" sz="6995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Tools &amp; Technologies Used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5040" y="3169975"/>
            <a:ext cx="4894028" cy="767569"/>
            <a:chOff x="0" y="0"/>
            <a:chExt cx="1288962" cy="2021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8962" cy="202158"/>
            </a:xfrm>
            <a:custGeom>
              <a:avLst/>
              <a:gdLst/>
              <a:ahLst/>
              <a:cxnLst/>
              <a:rect r="r" b="b" t="t" l="l"/>
              <a:pathLst>
                <a:path h="202158" w="1288962">
                  <a:moveTo>
                    <a:pt x="101079" y="0"/>
                  </a:moveTo>
                  <a:lnTo>
                    <a:pt x="1187883" y="0"/>
                  </a:lnTo>
                  <a:cubicBezTo>
                    <a:pt x="1214691" y="0"/>
                    <a:pt x="1240401" y="10649"/>
                    <a:pt x="1259357" y="29605"/>
                  </a:cubicBezTo>
                  <a:cubicBezTo>
                    <a:pt x="1278313" y="48561"/>
                    <a:pt x="1288962" y="74271"/>
                    <a:pt x="1288962" y="101079"/>
                  </a:cubicBezTo>
                  <a:lnTo>
                    <a:pt x="1288962" y="101079"/>
                  </a:lnTo>
                  <a:cubicBezTo>
                    <a:pt x="1288962" y="156903"/>
                    <a:pt x="1243708" y="202158"/>
                    <a:pt x="1187883" y="202158"/>
                  </a:cubicBezTo>
                  <a:lnTo>
                    <a:pt x="101079" y="202158"/>
                  </a:lnTo>
                  <a:cubicBezTo>
                    <a:pt x="74271" y="202158"/>
                    <a:pt x="48561" y="191509"/>
                    <a:pt x="29605" y="172553"/>
                  </a:cubicBezTo>
                  <a:cubicBezTo>
                    <a:pt x="10649" y="153597"/>
                    <a:pt x="0" y="127887"/>
                    <a:pt x="0" y="101079"/>
                  </a:cubicBezTo>
                  <a:lnTo>
                    <a:pt x="0" y="101079"/>
                  </a:lnTo>
                  <a:cubicBezTo>
                    <a:pt x="0" y="74271"/>
                    <a:pt x="10649" y="48561"/>
                    <a:pt x="29605" y="29605"/>
                  </a:cubicBezTo>
                  <a:cubicBezTo>
                    <a:pt x="48561" y="10649"/>
                    <a:pt x="74271" y="0"/>
                    <a:pt x="101079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288962" cy="268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3169975"/>
            <a:ext cx="4894028" cy="767569"/>
            <a:chOff x="0" y="0"/>
            <a:chExt cx="1288962" cy="2021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8962" cy="202158"/>
            </a:xfrm>
            <a:custGeom>
              <a:avLst/>
              <a:gdLst/>
              <a:ahLst/>
              <a:cxnLst/>
              <a:rect r="r" b="b" t="t" l="l"/>
              <a:pathLst>
                <a:path h="202158" w="1288962">
                  <a:moveTo>
                    <a:pt x="101079" y="0"/>
                  </a:moveTo>
                  <a:lnTo>
                    <a:pt x="1187883" y="0"/>
                  </a:lnTo>
                  <a:cubicBezTo>
                    <a:pt x="1214691" y="0"/>
                    <a:pt x="1240401" y="10649"/>
                    <a:pt x="1259357" y="29605"/>
                  </a:cubicBezTo>
                  <a:cubicBezTo>
                    <a:pt x="1278313" y="48561"/>
                    <a:pt x="1288962" y="74271"/>
                    <a:pt x="1288962" y="101079"/>
                  </a:cubicBezTo>
                  <a:lnTo>
                    <a:pt x="1288962" y="101079"/>
                  </a:lnTo>
                  <a:cubicBezTo>
                    <a:pt x="1288962" y="156903"/>
                    <a:pt x="1243708" y="202158"/>
                    <a:pt x="1187883" y="202158"/>
                  </a:cubicBezTo>
                  <a:lnTo>
                    <a:pt x="101079" y="202158"/>
                  </a:lnTo>
                  <a:cubicBezTo>
                    <a:pt x="74271" y="202158"/>
                    <a:pt x="48561" y="191509"/>
                    <a:pt x="29605" y="172553"/>
                  </a:cubicBezTo>
                  <a:cubicBezTo>
                    <a:pt x="10649" y="153597"/>
                    <a:pt x="0" y="127887"/>
                    <a:pt x="0" y="101079"/>
                  </a:cubicBezTo>
                  <a:lnTo>
                    <a:pt x="0" y="101079"/>
                  </a:lnTo>
                  <a:cubicBezTo>
                    <a:pt x="0" y="74271"/>
                    <a:pt x="10649" y="48561"/>
                    <a:pt x="29605" y="29605"/>
                  </a:cubicBezTo>
                  <a:cubicBezTo>
                    <a:pt x="48561" y="10649"/>
                    <a:pt x="74271" y="0"/>
                    <a:pt x="101079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288962" cy="268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32614" y="3299759"/>
            <a:ext cx="4286201" cy="44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Python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976114"/>
            <a:ext cx="7334260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Main programming language for the entire project. Used for data preprocessing, exploratory analysis, model development, and generating visualizations throughout the pipeline.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5947275"/>
            <a:ext cx="4894028" cy="767569"/>
            <a:chOff x="0" y="0"/>
            <a:chExt cx="1288962" cy="2021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8962" cy="202158"/>
            </a:xfrm>
            <a:custGeom>
              <a:avLst/>
              <a:gdLst/>
              <a:ahLst/>
              <a:cxnLst/>
              <a:rect r="r" b="b" t="t" l="l"/>
              <a:pathLst>
                <a:path h="202158" w="1288962">
                  <a:moveTo>
                    <a:pt x="101079" y="0"/>
                  </a:moveTo>
                  <a:lnTo>
                    <a:pt x="1187883" y="0"/>
                  </a:lnTo>
                  <a:cubicBezTo>
                    <a:pt x="1214691" y="0"/>
                    <a:pt x="1240401" y="10649"/>
                    <a:pt x="1259357" y="29605"/>
                  </a:cubicBezTo>
                  <a:cubicBezTo>
                    <a:pt x="1278313" y="48561"/>
                    <a:pt x="1288962" y="74271"/>
                    <a:pt x="1288962" y="101079"/>
                  </a:cubicBezTo>
                  <a:lnTo>
                    <a:pt x="1288962" y="101079"/>
                  </a:lnTo>
                  <a:cubicBezTo>
                    <a:pt x="1288962" y="156903"/>
                    <a:pt x="1243708" y="202158"/>
                    <a:pt x="1187883" y="202158"/>
                  </a:cubicBezTo>
                  <a:lnTo>
                    <a:pt x="101079" y="202158"/>
                  </a:lnTo>
                  <a:cubicBezTo>
                    <a:pt x="74271" y="202158"/>
                    <a:pt x="48561" y="191509"/>
                    <a:pt x="29605" y="172553"/>
                  </a:cubicBezTo>
                  <a:cubicBezTo>
                    <a:pt x="10649" y="153597"/>
                    <a:pt x="0" y="127887"/>
                    <a:pt x="0" y="101079"/>
                  </a:cubicBezTo>
                  <a:lnTo>
                    <a:pt x="0" y="101079"/>
                  </a:lnTo>
                  <a:cubicBezTo>
                    <a:pt x="0" y="74271"/>
                    <a:pt x="10649" y="48561"/>
                    <a:pt x="29605" y="29605"/>
                  </a:cubicBezTo>
                  <a:cubicBezTo>
                    <a:pt x="48561" y="10649"/>
                    <a:pt x="74271" y="0"/>
                    <a:pt x="101079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288962" cy="268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80214" y="6077059"/>
            <a:ext cx="4391001" cy="44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Jupyter Notebook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6728405"/>
            <a:ext cx="7334260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Interactive coding environment for step-by-step analysis and visualization. Enables clear documentation of code, outputs, and insights in a single shareable notebook format.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348545" y="3299759"/>
            <a:ext cx="4047018" cy="44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Pandas &amp; NumPy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5040" y="3976114"/>
            <a:ext cx="7334260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Pandas handles data manipulation, cleaning, and preprocessing of the student dataset. NumPy supports numerical operations and array computations required for feature engineering.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25040" y="5947275"/>
            <a:ext cx="4894028" cy="767569"/>
            <a:chOff x="0" y="0"/>
            <a:chExt cx="1288962" cy="20215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88962" cy="202158"/>
            </a:xfrm>
            <a:custGeom>
              <a:avLst/>
              <a:gdLst/>
              <a:ahLst/>
              <a:cxnLst/>
              <a:rect r="r" b="b" t="t" l="l"/>
              <a:pathLst>
                <a:path h="202158" w="1288962">
                  <a:moveTo>
                    <a:pt x="101079" y="0"/>
                  </a:moveTo>
                  <a:lnTo>
                    <a:pt x="1187883" y="0"/>
                  </a:lnTo>
                  <a:cubicBezTo>
                    <a:pt x="1214691" y="0"/>
                    <a:pt x="1240401" y="10649"/>
                    <a:pt x="1259357" y="29605"/>
                  </a:cubicBezTo>
                  <a:cubicBezTo>
                    <a:pt x="1278313" y="48561"/>
                    <a:pt x="1288962" y="74271"/>
                    <a:pt x="1288962" y="101079"/>
                  </a:cubicBezTo>
                  <a:lnTo>
                    <a:pt x="1288962" y="101079"/>
                  </a:lnTo>
                  <a:cubicBezTo>
                    <a:pt x="1288962" y="156903"/>
                    <a:pt x="1243708" y="202158"/>
                    <a:pt x="1187883" y="202158"/>
                  </a:cubicBezTo>
                  <a:lnTo>
                    <a:pt x="101079" y="202158"/>
                  </a:lnTo>
                  <a:cubicBezTo>
                    <a:pt x="74271" y="202158"/>
                    <a:pt x="48561" y="191509"/>
                    <a:pt x="29605" y="172553"/>
                  </a:cubicBezTo>
                  <a:cubicBezTo>
                    <a:pt x="10649" y="153597"/>
                    <a:pt x="0" y="127887"/>
                    <a:pt x="0" y="101079"/>
                  </a:cubicBezTo>
                  <a:lnTo>
                    <a:pt x="0" y="101079"/>
                  </a:lnTo>
                  <a:cubicBezTo>
                    <a:pt x="0" y="74271"/>
                    <a:pt x="10649" y="48561"/>
                    <a:pt x="29605" y="29605"/>
                  </a:cubicBezTo>
                  <a:cubicBezTo>
                    <a:pt x="48561" y="10649"/>
                    <a:pt x="74271" y="0"/>
                    <a:pt x="101079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288962" cy="268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291177" y="6077059"/>
            <a:ext cx="4161755" cy="44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Scikit-learn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25040" y="6728405"/>
            <a:ext cx="7334260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 machine learning library used to build, train, and evaluate predictive models. Provides algorithms such as Decision Tree, Random Forest, and Logistic Regression for performance prediction.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6398466" y="1079804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642386" cy="729984"/>
          </a:xfrm>
          <a:custGeom>
            <a:avLst/>
            <a:gdLst/>
            <a:ahLst/>
            <a:cxnLst/>
            <a:rect r="r" b="b" t="t" l="l"/>
            <a:pathLst>
              <a:path h="729984" w="642386">
                <a:moveTo>
                  <a:pt x="0" y="0"/>
                </a:moveTo>
                <a:lnTo>
                  <a:pt x="642386" y="0"/>
                </a:lnTo>
                <a:lnTo>
                  <a:pt x="642386" y="729984"/>
                </a:lnTo>
                <a:lnTo>
                  <a:pt x="0" y="7299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368484" y="8255873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52924" y="1178815"/>
            <a:ext cx="6548770" cy="7552815"/>
          </a:xfrm>
          <a:custGeom>
            <a:avLst/>
            <a:gdLst/>
            <a:ahLst/>
            <a:cxnLst/>
            <a:rect r="r" b="b" t="t" l="l"/>
            <a:pathLst>
              <a:path h="7552815" w="6548770">
                <a:moveTo>
                  <a:pt x="0" y="0"/>
                </a:moveTo>
                <a:lnTo>
                  <a:pt x="6548770" y="0"/>
                </a:lnTo>
                <a:lnTo>
                  <a:pt x="6548770" y="7552815"/>
                </a:lnTo>
                <a:lnTo>
                  <a:pt x="0" y="75528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874926" y="3266028"/>
            <a:ext cx="7384374" cy="184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5"/>
              </a:lnSpc>
            </a:pPr>
            <a:r>
              <a:rPr lang="en-US" b="true" sz="699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Description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74926" y="5369972"/>
            <a:ext cx="6493558" cy="2332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1"/>
              </a:lnSpc>
              <a:spcBef>
                <a:spcPct val="0"/>
              </a:spcBef>
            </a:pPr>
            <a:r>
              <a:rPr lang="en-US" sz="19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Source: Student Performance Dataset (Kaggle)</a:t>
            </a:r>
          </a:p>
          <a:p>
            <a:pPr algn="just" marL="0" indent="0" lvl="0">
              <a:lnSpc>
                <a:spcPts val="2691"/>
              </a:lnSpc>
              <a:spcBef>
                <a:spcPct val="0"/>
              </a:spcBef>
            </a:pPr>
            <a:r>
              <a:rPr lang="en-US" sz="19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Format: CSV — demographic, academic &amp; behavioral data</a:t>
            </a:r>
          </a:p>
          <a:p>
            <a:pPr algn="just" marL="0" indent="0" lvl="0">
              <a:lnSpc>
                <a:spcPts val="2691"/>
              </a:lnSpc>
              <a:spcBef>
                <a:spcPct val="0"/>
              </a:spcBef>
            </a:pPr>
            <a:r>
              <a:rPr lang="en-US" sz="19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Features: age, gender, attendance, study time, parental education, internet access, final grades</a:t>
            </a:r>
          </a:p>
          <a:p>
            <a:pPr algn="just" marL="0" indent="0" lvl="0">
              <a:lnSpc>
                <a:spcPts val="2691"/>
              </a:lnSpc>
              <a:spcBef>
                <a:spcPct val="0"/>
              </a:spcBef>
            </a:pPr>
            <a:r>
              <a:rPr lang="en-US" sz="19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Purpose: Train and test ML models to predict student academic outcomes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041610" y="1028700"/>
            <a:ext cx="642386" cy="729984"/>
          </a:xfrm>
          <a:custGeom>
            <a:avLst/>
            <a:gdLst/>
            <a:ahLst/>
            <a:cxnLst/>
            <a:rect r="r" b="b" t="t" l="l"/>
            <a:pathLst>
              <a:path h="729984" w="642386">
                <a:moveTo>
                  <a:pt x="0" y="0"/>
                </a:moveTo>
                <a:lnTo>
                  <a:pt x="642387" y="0"/>
                </a:lnTo>
                <a:lnTo>
                  <a:pt x="642387" y="729984"/>
                </a:lnTo>
                <a:lnTo>
                  <a:pt x="0" y="7299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76798" y="1734616"/>
            <a:ext cx="10134403" cy="1076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4"/>
              </a:lnSpc>
              <a:spcBef>
                <a:spcPct val="0"/>
              </a:spcBef>
            </a:pPr>
            <a:r>
              <a:rPr lang="en-US" b="true" sz="599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Team Responsibilities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302" y="3307468"/>
            <a:ext cx="5093371" cy="5073466"/>
            <a:chOff x="0" y="0"/>
            <a:chExt cx="1341464" cy="1336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1464" cy="1336222"/>
            </a:xfrm>
            <a:custGeom>
              <a:avLst/>
              <a:gdLst/>
              <a:ahLst/>
              <a:cxnLst/>
              <a:rect r="r" b="b" t="t" l="l"/>
              <a:pathLst>
                <a:path h="1336222" w="1341464">
                  <a:moveTo>
                    <a:pt x="77520" y="0"/>
                  </a:moveTo>
                  <a:lnTo>
                    <a:pt x="1263944" y="0"/>
                  </a:lnTo>
                  <a:cubicBezTo>
                    <a:pt x="1306757" y="0"/>
                    <a:pt x="1341464" y="34707"/>
                    <a:pt x="1341464" y="77520"/>
                  </a:cubicBezTo>
                  <a:lnTo>
                    <a:pt x="1341464" y="1258702"/>
                  </a:lnTo>
                  <a:cubicBezTo>
                    <a:pt x="1341464" y="1279261"/>
                    <a:pt x="1333297" y="1298979"/>
                    <a:pt x="1318759" y="1313516"/>
                  </a:cubicBezTo>
                  <a:cubicBezTo>
                    <a:pt x="1304221" y="1328054"/>
                    <a:pt x="1284504" y="1336222"/>
                    <a:pt x="1263944" y="1336222"/>
                  </a:cubicBezTo>
                  <a:lnTo>
                    <a:pt x="77520" y="1336222"/>
                  </a:lnTo>
                  <a:cubicBezTo>
                    <a:pt x="56960" y="1336222"/>
                    <a:pt x="37243" y="1328054"/>
                    <a:pt x="22705" y="1313516"/>
                  </a:cubicBezTo>
                  <a:cubicBezTo>
                    <a:pt x="8167" y="1298979"/>
                    <a:pt x="0" y="1279261"/>
                    <a:pt x="0" y="1258702"/>
                  </a:cubicBezTo>
                  <a:lnTo>
                    <a:pt x="0" y="77520"/>
                  </a:lnTo>
                  <a:cubicBezTo>
                    <a:pt x="0" y="56960"/>
                    <a:pt x="8167" y="37243"/>
                    <a:pt x="22705" y="22705"/>
                  </a:cubicBezTo>
                  <a:cubicBezTo>
                    <a:pt x="37243" y="8167"/>
                    <a:pt x="56960" y="0"/>
                    <a:pt x="77520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341464" cy="1402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96297" y="3307468"/>
            <a:ext cx="5093371" cy="5073466"/>
            <a:chOff x="0" y="0"/>
            <a:chExt cx="1341464" cy="1336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1464" cy="1336222"/>
            </a:xfrm>
            <a:custGeom>
              <a:avLst/>
              <a:gdLst/>
              <a:ahLst/>
              <a:cxnLst/>
              <a:rect r="r" b="b" t="t" l="l"/>
              <a:pathLst>
                <a:path h="1336222" w="1341464">
                  <a:moveTo>
                    <a:pt x="77520" y="0"/>
                  </a:moveTo>
                  <a:lnTo>
                    <a:pt x="1263944" y="0"/>
                  </a:lnTo>
                  <a:cubicBezTo>
                    <a:pt x="1306757" y="0"/>
                    <a:pt x="1341464" y="34707"/>
                    <a:pt x="1341464" y="77520"/>
                  </a:cubicBezTo>
                  <a:lnTo>
                    <a:pt x="1341464" y="1258702"/>
                  </a:lnTo>
                  <a:cubicBezTo>
                    <a:pt x="1341464" y="1279261"/>
                    <a:pt x="1333297" y="1298979"/>
                    <a:pt x="1318759" y="1313516"/>
                  </a:cubicBezTo>
                  <a:cubicBezTo>
                    <a:pt x="1304221" y="1328054"/>
                    <a:pt x="1284504" y="1336222"/>
                    <a:pt x="1263944" y="1336222"/>
                  </a:cubicBezTo>
                  <a:lnTo>
                    <a:pt x="77520" y="1336222"/>
                  </a:lnTo>
                  <a:cubicBezTo>
                    <a:pt x="56960" y="1336222"/>
                    <a:pt x="37243" y="1328054"/>
                    <a:pt x="22705" y="1313516"/>
                  </a:cubicBezTo>
                  <a:cubicBezTo>
                    <a:pt x="8167" y="1298979"/>
                    <a:pt x="0" y="1279261"/>
                    <a:pt x="0" y="1258702"/>
                  </a:cubicBezTo>
                  <a:lnTo>
                    <a:pt x="0" y="77520"/>
                  </a:lnTo>
                  <a:cubicBezTo>
                    <a:pt x="0" y="56960"/>
                    <a:pt x="8167" y="37243"/>
                    <a:pt x="22705" y="22705"/>
                  </a:cubicBezTo>
                  <a:cubicBezTo>
                    <a:pt x="37243" y="8167"/>
                    <a:pt x="56960" y="0"/>
                    <a:pt x="77520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341464" cy="1402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65111" y="3307468"/>
            <a:ext cx="5093371" cy="5073466"/>
            <a:chOff x="0" y="0"/>
            <a:chExt cx="1341464" cy="1336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1464" cy="1336222"/>
            </a:xfrm>
            <a:custGeom>
              <a:avLst/>
              <a:gdLst/>
              <a:ahLst/>
              <a:cxnLst/>
              <a:rect r="r" b="b" t="t" l="l"/>
              <a:pathLst>
                <a:path h="1336222" w="1341464">
                  <a:moveTo>
                    <a:pt x="77520" y="0"/>
                  </a:moveTo>
                  <a:lnTo>
                    <a:pt x="1263944" y="0"/>
                  </a:lnTo>
                  <a:cubicBezTo>
                    <a:pt x="1306757" y="0"/>
                    <a:pt x="1341464" y="34707"/>
                    <a:pt x="1341464" y="77520"/>
                  </a:cubicBezTo>
                  <a:lnTo>
                    <a:pt x="1341464" y="1258702"/>
                  </a:lnTo>
                  <a:cubicBezTo>
                    <a:pt x="1341464" y="1279261"/>
                    <a:pt x="1333297" y="1298979"/>
                    <a:pt x="1318759" y="1313516"/>
                  </a:cubicBezTo>
                  <a:cubicBezTo>
                    <a:pt x="1304221" y="1328054"/>
                    <a:pt x="1284504" y="1336222"/>
                    <a:pt x="1263944" y="1336222"/>
                  </a:cubicBezTo>
                  <a:lnTo>
                    <a:pt x="77520" y="1336222"/>
                  </a:lnTo>
                  <a:cubicBezTo>
                    <a:pt x="56960" y="1336222"/>
                    <a:pt x="37243" y="1328054"/>
                    <a:pt x="22705" y="1313516"/>
                  </a:cubicBezTo>
                  <a:cubicBezTo>
                    <a:pt x="8167" y="1298979"/>
                    <a:pt x="0" y="1279261"/>
                    <a:pt x="0" y="1258702"/>
                  </a:cubicBezTo>
                  <a:lnTo>
                    <a:pt x="0" y="77520"/>
                  </a:lnTo>
                  <a:cubicBezTo>
                    <a:pt x="0" y="56960"/>
                    <a:pt x="8167" y="37243"/>
                    <a:pt x="22705" y="22705"/>
                  </a:cubicBezTo>
                  <a:cubicBezTo>
                    <a:pt x="37243" y="8167"/>
                    <a:pt x="56960" y="0"/>
                    <a:pt x="77520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341464" cy="1402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676517" y="3842283"/>
            <a:ext cx="3796941" cy="391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6"/>
              </a:lnSpc>
            </a:pPr>
            <a:r>
              <a:rPr lang="en-US" b="true" sz="2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Team Lead &amp; Data Analyst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4280" y="5153025"/>
            <a:ext cx="4541415" cy="2591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99"/>
              </a:lnSpc>
              <a:spcBef>
                <a:spcPct val="0"/>
              </a:spcBef>
            </a:pPr>
            <a:r>
              <a:rPr lang="en-US" sz="185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Team Lead: Project coordination, GitHub repository management, team meeting updates, and task delegation.</a:t>
            </a:r>
          </a:p>
          <a:p>
            <a:pPr algn="just" marL="0" indent="0" lvl="0">
              <a:lnSpc>
                <a:spcPts val="2599"/>
              </a:lnSpc>
              <a:spcBef>
                <a:spcPct val="0"/>
              </a:spcBef>
            </a:pPr>
            <a:r>
              <a:rPr lang="en-US" sz="185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Analyst: Data cleaning, preprocessing, handling missing values, and exploratory data analysis (EDA).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98416" y="3842283"/>
            <a:ext cx="4489134" cy="391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6"/>
              </a:lnSpc>
            </a:pPr>
            <a:r>
              <a:rPr lang="en-US" b="true" sz="2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ML Developer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72275" y="5153025"/>
            <a:ext cx="4541415" cy="2267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99"/>
              </a:lnSpc>
              <a:spcBef>
                <a:spcPct val="0"/>
              </a:spcBef>
            </a:pPr>
            <a:r>
              <a:rPr lang="en-US" sz="185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Responsible for building and training predictive machine learning models using Scikit-learn.</a:t>
            </a:r>
          </a:p>
          <a:p>
            <a:pPr algn="just" marL="0" indent="0" lvl="0">
              <a:lnSpc>
                <a:spcPts val="2599"/>
              </a:lnSpc>
              <a:spcBef>
                <a:spcPct val="0"/>
              </a:spcBef>
            </a:pPr>
            <a:r>
              <a:rPr lang="en-US" sz="185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Tasks include model selection, hyperparameter tuning, performance evaluation, and accuracy optimization.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69348" y="3842283"/>
            <a:ext cx="3884897" cy="391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6"/>
              </a:lnSpc>
            </a:pPr>
            <a:r>
              <a:rPr lang="en-US" b="true" sz="2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Documentation Specialist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41089" y="5153025"/>
            <a:ext cx="4541415" cy="2267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99"/>
              </a:lnSpc>
              <a:spcBef>
                <a:spcPct val="0"/>
              </a:spcBef>
            </a:pPr>
            <a:r>
              <a:rPr lang="en-US" sz="185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Handles all project documentation including report writing, creating visualization dashboards, and preparing the final presentation.</a:t>
            </a:r>
          </a:p>
          <a:p>
            <a:pPr algn="just" marL="0" indent="0" lvl="0">
              <a:lnSpc>
                <a:spcPts val="2599"/>
              </a:lnSpc>
              <a:spcBef>
                <a:spcPct val="0"/>
              </a:spcBef>
            </a:pPr>
            <a:r>
              <a:rPr lang="en-US" sz="185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Ensures deliverables meet academic standards and submission requirements.</a:t>
            </a:r>
          </a:p>
        </p:txBody>
      </p:sp>
      <p:sp>
        <p:nvSpPr>
          <p:cNvPr name="AutoShape 23" id="23"/>
          <p:cNvSpPr/>
          <p:nvPr/>
        </p:nvSpPr>
        <p:spPr>
          <a:xfrm>
            <a:off x="1028302" y="4804845"/>
            <a:ext cx="5093371" cy="0"/>
          </a:xfrm>
          <a:prstGeom prst="line">
            <a:avLst/>
          </a:prstGeom>
          <a:ln cap="flat" w="66675">
            <a:solidFill>
              <a:srgbClr val="5CA3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6596706" y="4771508"/>
            <a:ext cx="5093371" cy="0"/>
          </a:xfrm>
          <a:prstGeom prst="line">
            <a:avLst/>
          </a:prstGeom>
          <a:ln cap="flat" w="66675">
            <a:solidFill>
              <a:srgbClr val="5CA3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2166327" y="4771508"/>
            <a:ext cx="5093371" cy="0"/>
          </a:xfrm>
          <a:prstGeom prst="line">
            <a:avLst/>
          </a:prstGeom>
          <a:ln cap="flat" w="66675">
            <a:solidFill>
              <a:srgbClr val="5CA3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1028302" y="1028700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042827" y="1028700"/>
            <a:ext cx="642386" cy="729984"/>
          </a:xfrm>
          <a:custGeom>
            <a:avLst/>
            <a:gdLst/>
            <a:ahLst/>
            <a:cxnLst/>
            <a:rect r="r" b="b" t="t" l="l"/>
            <a:pathLst>
              <a:path h="729984" w="642386">
                <a:moveTo>
                  <a:pt x="0" y="0"/>
                </a:moveTo>
                <a:lnTo>
                  <a:pt x="642386" y="0"/>
                </a:lnTo>
                <a:lnTo>
                  <a:pt x="642386" y="729984"/>
                </a:lnTo>
                <a:lnTo>
                  <a:pt x="0" y="7299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76798" y="1744141"/>
            <a:ext cx="10134403" cy="1002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34"/>
              </a:lnSpc>
              <a:spcBef>
                <a:spcPct val="0"/>
              </a:spcBef>
            </a:pPr>
            <a:r>
              <a:rPr lang="en-US" b="true" sz="5524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GitHub Repository Structure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302" y="3307468"/>
            <a:ext cx="5093371" cy="5073466"/>
            <a:chOff x="0" y="0"/>
            <a:chExt cx="1341464" cy="1336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1464" cy="1336222"/>
            </a:xfrm>
            <a:custGeom>
              <a:avLst/>
              <a:gdLst/>
              <a:ahLst/>
              <a:cxnLst/>
              <a:rect r="r" b="b" t="t" l="l"/>
              <a:pathLst>
                <a:path h="1336222" w="1341464">
                  <a:moveTo>
                    <a:pt x="77520" y="0"/>
                  </a:moveTo>
                  <a:lnTo>
                    <a:pt x="1263944" y="0"/>
                  </a:lnTo>
                  <a:cubicBezTo>
                    <a:pt x="1306757" y="0"/>
                    <a:pt x="1341464" y="34707"/>
                    <a:pt x="1341464" y="77520"/>
                  </a:cubicBezTo>
                  <a:lnTo>
                    <a:pt x="1341464" y="1258702"/>
                  </a:lnTo>
                  <a:cubicBezTo>
                    <a:pt x="1341464" y="1279261"/>
                    <a:pt x="1333297" y="1298979"/>
                    <a:pt x="1318759" y="1313516"/>
                  </a:cubicBezTo>
                  <a:cubicBezTo>
                    <a:pt x="1304221" y="1328054"/>
                    <a:pt x="1284504" y="1336222"/>
                    <a:pt x="1263944" y="1336222"/>
                  </a:cubicBezTo>
                  <a:lnTo>
                    <a:pt x="77520" y="1336222"/>
                  </a:lnTo>
                  <a:cubicBezTo>
                    <a:pt x="56960" y="1336222"/>
                    <a:pt x="37243" y="1328054"/>
                    <a:pt x="22705" y="1313516"/>
                  </a:cubicBezTo>
                  <a:cubicBezTo>
                    <a:pt x="8167" y="1298979"/>
                    <a:pt x="0" y="1279261"/>
                    <a:pt x="0" y="1258702"/>
                  </a:cubicBezTo>
                  <a:lnTo>
                    <a:pt x="0" y="77520"/>
                  </a:lnTo>
                  <a:cubicBezTo>
                    <a:pt x="0" y="56960"/>
                    <a:pt x="8167" y="37243"/>
                    <a:pt x="22705" y="22705"/>
                  </a:cubicBezTo>
                  <a:cubicBezTo>
                    <a:pt x="37243" y="8167"/>
                    <a:pt x="56960" y="0"/>
                    <a:pt x="77520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341464" cy="1402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96297" y="3307468"/>
            <a:ext cx="5093371" cy="5073466"/>
            <a:chOff x="0" y="0"/>
            <a:chExt cx="1341464" cy="1336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1464" cy="1336222"/>
            </a:xfrm>
            <a:custGeom>
              <a:avLst/>
              <a:gdLst/>
              <a:ahLst/>
              <a:cxnLst/>
              <a:rect r="r" b="b" t="t" l="l"/>
              <a:pathLst>
                <a:path h="1336222" w="1341464">
                  <a:moveTo>
                    <a:pt x="77520" y="0"/>
                  </a:moveTo>
                  <a:lnTo>
                    <a:pt x="1263944" y="0"/>
                  </a:lnTo>
                  <a:cubicBezTo>
                    <a:pt x="1306757" y="0"/>
                    <a:pt x="1341464" y="34707"/>
                    <a:pt x="1341464" y="77520"/>
                  </a:cubicBezTo>
                  <a:lnTo>
                    <a:pt x="1341464" y="1258702"/>
                  </a:lnTo>
                  <a:cubicBezTo>
                    <a:pt x="1341464" y="1279261"/>
                    <a:pt x="1333297" y="1298979"/>
                    <a:pt x="1318759" y="1313516"/>
                  </a:cubicBezTo>
                  <a:cubicBezTo>
                    <a:pt x="1304221" y="1328054"/>
                    <a:pt x="1284504" y="1336222"/>
                    <a:pt x="1263944" y="1336222"/>
                  </a:cubicBezTo>
                  <a:lnTo>
                    <a:pt x="77520" y="1336222"/>
                  </a:lnTo>
                  <a:cubicBezTo>
                    <a:pt x="56960" y="1336222"/>
                    <a:pt x="37243" y="1328054"/>
                    <a:pt x="22705" y="1313516"/>
                  </a:cubicBezTo>
                  <a:cubicBezTo>
                    <a:pt x="8167" y="1298979"/>
                    <a:pt x="0" y="1279261"/>
                    <a:pt x="0" y="1258702"/>
                  </a:cubicBezTo>
                  <a:lnTo>
                    <a:pt x="0" y="77520"/>
                  </a:lnTo>
                  <a:cubicBezTo>
                    <a:pt x="0" y="56960"/>
                    <a:pt x="8167" y="37243"/>
                    <a:pt x="22705" y="22705"/>
                  </a:cubicBezTo>
                  <a:cubicBezTo>
                    <a:pt x="37243" y="8167"/>
                    <a:pt x="56960" y="0"/>
                    <a:pt x="77520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341464" cy="1402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65111" y="3307468"/>
            <a:ext cx="5093371" cy="5073466"/>
            <a:chOff x="0" y="0"/>
            <a:chExt cx="1341464" cy="1336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1464" cy="1336222"/>
            </a:xfrm>
            <a:custGeom>
              <a:avLst/>
              <a:gdLst/>
              <a:ahLst/>
              <a:cxnLst/>
              <a:rect r="r" b="b" t="t" l="l"/>
              <a:pathLst>
                <a:path h="1336222" w="1341464">
                  <a:moveTo>
                    <a:pt x="77520" y="0"/>
                  </a:moveTo>
                  <a:lnTo>
                    <a:pt x="1263944" y="0"/>
                  </a:lnTo>
                  <a:cubicBezTo>
                    <a:pt x="1306757" y="0"/>
                    <a:pt x="1341464" y="34707"/>
                    <a:pt x="1341464" y="77520"/>
                  </a:cubicBezTo>
                  <a:lnTo>
                    <a:pt x="1341464" y="1258702"/>
                  </a:lnTo>
                  <a:cubicBezTo>
                    <a:pt x="1341464" y="1279261"/>
                    <a:pt x="1333297" y="1298979"/>
                    <a:pt x="1318759" y="1313516"/>
                  </a:cubicBezTo>
                  <a:cubicBezTo>
                    <a:pt x="1304221" y="1328054"/>
                    <a:pt x="1284504" y="1336222"/>
                    <a:pt x="1263944" y="1336222"/>
                  </a:cubicBezTo>
                  <a:lnTo>
                    <a:pt x="77520" y="1336222"/>
                  </a:lnTo>
                  <a:cubicBezTo>
                    <a:pt x="56960" y="1336222"/>
                    <a:pt x="37243" y="1328054"/>
                    <a:pt x="22705" y="1313516"/>
                  </a:cubicBezTo>
                  <a:cubicBezTo>
                    <a:pt x="8167" y="1298979"/>
                    <a:pt x="0" y="1279261"/>
                    <a:pt x="0" y="1258702"/>
                  </a:cubicBezTo>
                  <a:lnTo>
                    <a:pt x="0" y="77520"/>
                  </a:lnTo>
                  <a:cubicBezTo>
                    <a:pt x="0" y="56960"/>
                    <a:pt x="8167" y="37243"/>
                    <a:pt x="22705" y="22705"/>
                  </a:cubicBezTo>
                  <a:cubicBezTo>
                    <a:pt x="37243" y="8167"/>
                    <a:pt x="56960" y="0"/>
                    <a:pt x="77520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341464" cy="1402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676517" y="3832758"/>
            <a:ext cx="3796941" cy="44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/Data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4280" y="5153025"/>
            <a:ext cx="4541415" cy="200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06"/>
              </a:lnSpc>
              <a:spcBef>
                <a:spcPct val="0"/>
              </a:spcBef>
            </a:pPr>
            <a:r>
              <a:rPr lang="en-US" sz="16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Raw and cleaned datasets sourced from Kaggle.</a:t>
            </a:r>
          </a:p>
          <a:p>
            <a:pPr algn="just" marL="0" indent="0" lvl="0">
              <a:lnSpc>
                <a:spcPts val="2306"/>
              </a:lnSpc>
              <a:spcBef>
                <a:spcPct val="0"/>
              </a:spcBef>
            </a:pPr>
            <a:r>
              <a:rPr lang="en-US" sz="16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student_raw.csv</a:t>
            </a:r>
          </a:p>
          <a:p>
            <a:pPr algn="just" marL="0" indent="0" lvl="0">
              <a:lnSpc>
                <a:spcPts val="2306"/>
              </a:lnSpc>
              <a:spcBef>
                <a:spcPct val="0"/>
              </a:spcBef>
            </a:pPr>
            <a:r>
              <a:rPr lang="en-US" sz="16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student_cleaned.csv</a:t>
            </a:r>
          </a:p>
          <a:p>
            <a:pPr algn="just" marL="0" indent="0" lvl="0">
              <a:lnSpc>
                <a:spcPts val="2306"/>
              </a:lnSpc>
              <a:spcBef>
                <a:spcPct val="0"/>
              </a:spcBef>
            </a:pPr>
            <a:r>
              <a:rPr lang="en-US" sz="16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data_dictionary.txt</a:t>
            </a:r>
          </a:p>
          <a:p>
            <a:pPr algn="just" marL="0" indent="0" lvl="0">
              <a:lnSpc>
                <a:spcPts val="2306"/>
              </a:lnSpc>
              <a:spcBef>
                <a:spcPct val="0"/>
              </a:spcBef>
            </a:pPr>
            <a:r>
              <a:rPr lang="en-US" sz="16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Stores all original and preprocessed data files used for analysis and model training.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98416" y="3832758"/>
            <a:ext cx="4489134" cy="44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/Source &amp; /Logs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72275" y="5153025"/>
            <a:ext cx="4541415" cy="229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06"/>
              </a:lnSpc>
              <a:spcBef>
                <a:spcPct val="0"/>
              </a:spcBef>
            </a:pPr>
            <a:r>
              <a:rPr lang="en-US" sz="16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Code notebooks, scripts, and progress logs.</a:t>
            </a:r>
          </a:p>
          <a:p>
            <a:pPr algn="just" marL="0" indent="0" lvl="0">
              <a:lnSpc>
                <a:spcPts val="2306"/>
              </a:lnSpc>
              <a:spcBef>
                <a:spcPct val="0"/>
              </a:spcBef>
            </a:pPr>
            <a:r>
              <a:rPr lang="en-US" sz="16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data_cleaning.ipynb</a:t>
            </a:r>
          </a:p>
          <a:p>
            <a:pPr algn="just" marL="0" indent="0" lvl="0">
              <a:lnSpc>
                <a:spcPts val="2306"/>
              </a:lnSpc>
              <a:spcBef>
                <a:spcPct val="0"/>
              </a:spcBef>
            </a:pPr>
            <a:r>
              <a:rPr lang="en-US" sz="16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eda_analysis.ipynb</a:t>
            </a:r>
          </a:p>
          <a:p>
            <a:pPr algn="just" marL="0" indent="0" lvl="0">
              <a:lnSpc>
                <a:spcPts val="2306"/>
              </a:lnSpc>
              <a:spcBef>
                <a:spcPct val="0"/>
              </a:spcBef>
            </a:pPr>
            <a:r>
              <a:rPr lang="en-US" sz="16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model_training.ipynb</a:t>
            </a:r>
          </a:p>
          <a:p>
            <a:pPr algn="just" marL="0" indent="0" lvl="0">
              <a:lnSpc>
                <a:spcPts val="2306"/>
              </a:lnSpc>
              <a:spcBef>
                <a:spcPct val="0"/>
              </a:spcBef>
            </a:pPr>
            <a:r>
              <a:rPr lang="en-US" sz="16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week1_log.md</a:t>
            </a:r>
          </a:p>
          <a:p>
            <a:pPr algn="just" marL="0" indent="0" lvl="0">
              <a:lnSpc>
                <a:spcPts val="2306"/>
              </a:lnSpc>
              <a:spcBef>
                <a:spcPct val="0"/>
              </a:spcBef>
            </a:pPr>
            <a:r>
              <a:rPr lang="en-US" sz="16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week2_log.md</a:t>
            </a:r>
          </a:p>
          <a:p>
            <a:pPr algn="just" marL="0" indent="0" lvl="0">
              <a:lnSpc>
                <a:spcPts val="2306"/>
              </a:lnSpc>
              <a:spcBef>
                <a:spcPct val="0"/>
              </a:spcBef>
            </a:pPr>
            <a:r>
              <a:rPr lang="en-US" sz="16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All Python notebooks, scripts, and weekly progress logs are maintained here.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69348" y="3613683"/>
            <a:ext cx="3884897" cy="87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7"/>
              </a:lnSpc>
            </a:pPr>
            <a:r>
              <a:rPr lang="en-US" b="true" sz="249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/Documentation &amp; /Reports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41089" y="5153025"/>
            <a:ext cx="4541415" cy="257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06"/>
              </a:lnSpc>
              <a:spcBef>
                <a:spcPct val="0"/>
              </a:spcBef>
            </a:pPr>
            <a:r>
              <a:rPr lang="en-US" sz="16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docs, references, analysis reports, and visuals.</a:t>
            </a:r>
          </a:p>
          <a:p>
            <a:pPr algn="just" marL="0" indent="0" lvl="0">
              <a:lnSpc>
                <a:spcPts val="2306"/>
              </a:lnSpc>
              <a:spcBef>
                <a:spcPct val="0"/>
              </a:spcBef>
            </a:pPr>
            <a:r>
              <a:rPr lang="en-US" sz="16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project_proposal.pdf</a:t>
            </a:r>
          </a:p>
          <a:p>
            <a:pPr algn="just" marL="0" indent="0" lvl="0">
              <a:lnSpc>
                <a:spcPts val="2306"/>
              </a:lnSpc>
              <a:spcBef>
                <a:spcPct val="0"/>
              </a:spcBef>
            </a:pPr>
            <a:r>
              <a:rPr lang="en-US" sz="16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references.bib</a:t>
            </a:r>
          </a:p>
          <a:p>
            <a:pPr algn="just" marL="0" indent="0" lvl="0">
              <a:lnSpc>
                <a:spcPts val="2306"/>
              </a:lnSpc>
              <a:spcBef>
                <a:spcPct val="0"/>
              </a:spcBef>
            </a:pPr>
            <a:r>
              <a:rPr lang="en-US" sz="16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eda_report.pdf</a:t>
            </a:r>
          </a:p>
          <a:p>
            <a:pPr algn="just" marL="0" indent="0" lvl="0">
              <a:lnSpc>
                <a:spcPts val="2306"/>
              </a:lnSpc>
              <a:spcBef>
                <a:spcPct val="0"/>
              </a:spcBef>
            </a:pPr>
            <a:r>
              <a:rPr lang="en-US" sz="16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model_evaluation.pdf</a:t>
            </a:r>
          </a:p>
          <a:p>
            <a:pPr algn="just" marL="0" indent="0" lvl="0">
              <a:lnSpc>
                <a:spcPts val="2306"/>
              </a:lnSpc>
              <a:spcBef>
                <a:spcPct val="0"/>
              </a:spcBef>
            </a:pPr>
            <a:r>
              <a:rPr lang="en-US" sz="16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dashboard_visuals/</a:t>
            </a:r>
          </a:p>
          <a:p>
            <a:pPr algn="just" marL="0" indent="0" lvl="0">
              <a:lnSpc>
                <a:spcPts val="2306"/>
              </a:lnSpc>
              <a:spcBef>
                <a:spcPct val="0"/>
              </a:spcBef>
            </a:pPr>
            <a:r>
              <a:rPr lang="en-US" sz="16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All written documentation and generated visual reports are stored here.</a:t>
            </a:r>
          </a:p>
        </p:txBody>
      </p:sp>
      <p:sp>
        <p:nvSpPr>
          <p:cNvPr name="AutoShape 23" id="23"/>
          <p:cNvSpPr/>
          <p:nvPr/>
        </p:nvSpPr>
        <p:spPr>
          <a:xfrm>
            <a:off x="1028302" y="4804845"/>
            <a:ext cx="5093371" cy="0"/>
          </a:xfrm>
          <a:prstGeom prst="line">
            <a:avLst/>
          </a:prstGeom>
          <a:ln cap="flat" w="66675">
            <a:solidFill>
              <a:srgbClr val="5CA3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6596706" y="4771508"/>
            <a:ext cx="5093371" cy="0"/>
          </a:xfrm>
          <a:prstGeom prst="line">
            <a:avLst/>
          </a:prstGeom>
          <a:ln cap="flat" w="66675">
            <a:solidFill>
              <a:srgbClr val="5CA3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2166327" y="4771508"/>
            <a:ext cx="5093371" cy="0"/>
          </a:xfrm>
          <a:prstGeom prst="line">
            <a:avLst/>
          </a:prstGeom>
          <a:ln cap="flat" w="66675">
            <a:solidFill>
              <a:srgbClr val="5CA3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1028700" y="1079804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03931" y="2560357"/>
            <a:ext cx="5219430" cy="5468693"/>
          </a:xfrm>
          <a:custGeom>
            <a:avLst/>
            <a:gdLst/>
            <a:ahLst/>
            <a:cxnLst/>
            <a:rect r="r" b="b" t="t" l="l"/>
            <a:pathLst>
              <a:path h="5468693" w="5219430">
                <a:moveTo>
                  <a:pt x="0" y="0"/>
                </a:moveTo>
                <a:lnTo>
                  <a:pt x="5219430" y="0"/>
                </a:lnTo>
                <a:lnTo>
                  <a:pt x="5219430" y="5468693"/>
                </a:lnTo>
                <a:lnTo>
                  <a:pt x="0" y="54686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642386" cy="729984"/>
          </a:xfrm>
          <a:custGeom>
            <a:avLst/>
            <a:gdLst/>
            <a:ahLst/>
            <a:cxnLst/>
            <a:rect r="r" b="b" t="t" l="l"/>
            <a:pathLst>
              <a:path h="729984" w="642386">
                <a:moveTo>
                  <a:pt x="0" y="0"/>
                </a:moveTo>
                <a:lnTo>
                  <a:pt x="642386" y="0"/>
                </a:lnTo>
                <a:lnTo>
                  <a:pt x="642386" y="729984"/>
                </a:lnTo>
                <a:lnTo>
                  <a:pt x="0" y="7299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5323800"/>
            <a:ext cx="6295048" cy="836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3"/>
              </a:lnSpc>
              <a:spcBef>
                <a:spcPct val="0"/>
              </a:spcBef>
            </a:pPr>
            <a:r>
              <a:rPr lang="en-US" sz="120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Topic selected and team discussion completed</a:t>
            </a:r>
          </a:p>
          <a:p>
            <a:pPr algn="l" marL="0" indent="0" lvl="0">
              <a:lnSpc>
                <a:spcPts val="1683"/>
              </a:lnSpc>
              <a:spcBef>
                <a:spcPct val="0"/>
              </a:spcBef>
            </a:pPr>
            <a:r>
              <a:rPr lang="en-US" sz="120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GitHub repo created with folder structure</a:t>
            </a:r>
          </a:p>
          <a:p>
            <a:pPr algn="l" marL="0" indent="0" lvl="0">
              <a:lnSpc>
                <a:spcPts val="1683"/>
              </a:lnSpc>
              <a:spcBef>
                <a:spcPct val="0"/>
              </a:spcBef>
            </a:pPr>
            <a:r>
              <a:rPr lang="en-US" sz="120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Initial planning finished</a:t>
            </a:r>
          </a:p>
          <a:p>
            <a:pPr algn="l" marL="0" indent="0" lvl="0">
              <a:lnSpc>
                <a:spcPts val="1683"/>
              </a:lnSpc>
              <a:spcBef>
                <a:spcPct val="0"/>
              </a:spcBef>
            </a:pPr>
            <a:r>
              <a:rPr lang="en-US" sz="120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Next: dataset collection, data cleaning &amp; task assignment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331250"/>
            <a:ext cx="8115300" cy="184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5"/>
              </a:lnSpc>
            </a:pPr>
            <a:r>
              <a:rPr lang="en-US" b="true" sz="699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Log &amp; Progress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398466" y="1079804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60343" y="9889125"/>
            <a:ext cx="19408687" cy="996493"/>
            <a:chOff x="0" y="0"/>
            <a:chExt cx="5111753" cy="262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753" cy="262451"/>
            </a:xfrm>
            <a:custGeom>
              <a:avLst/>
              <a:gdLst/>
              <a:ahLst/>
              <a:cxnLst/>
              <a:rect r="r" b="b" t="t" l="l"/>
              <a:pathLst>
                <a:path h="262451" w="5111753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615651" y="3178002"/>
            <a:ext cx="9056698" cy="180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90"/>
              </a:lnSpc>
              <a:spcBef>
                <a:spcPct val="0"/>
              </a:spcBef>
            </a:pPr>
            <a:r>
              <a:rPr lang="en-US" b="true" sz="999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670413" y="5384437"/>
            <a:ext cx="6947174" cy="1438812"/>
            <a:chOff x="0" y="0"/>
            <a:chExt cx="1829708" cy="3789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9708" cy="378946"/>
            </a:xfrm>
            <a:custGeom>
              <a:avLst/>
              <a:gdLst/>
              <a:ahLst/>
              <a:cxnLst/>
              <a:rect r="r" b="b" t="t" l="l"/>
              <a:pathLst>
                <a:path h="378946" w="1829708">
                  <a:moveTo>
                    <a:pt x="111440" y="0"/>
                  </a:moveTo>
                  <a:lnTo>
                    <a:pt x="1718269" y="0"/>
                  </a:lnTo>
                  <a:cubicBezTo>
                    <a:pt x="1779815" y="0"/>
                    <a:pt x="1829708" y="49893"/>
                    <a:pt x="1829708" y="111440"/>
                  </a:cubicBezTo>
                  <a:lnTo>
                    <a:pt x="1829708" y="267506"/>
                  </a:lnTo>
                  <a:cubicBezTo>
                    <a:pt x="1829708" y="297062"/>
                    <a:pt x="1817968" y="325407"/>
                    <a:pt x="1797068" y="346306"/>
                  </a:cubicBezTo>
                  <a:cubicBezTo>
                    <a:pt x="1776169" y="367205"/>
                    <a:pt x="1747824" y="378946"/>
                    <a:pt x="1718269" y="378946"/>
                  </a:cubicBezTo>
                  <a:lnTo>
                    <a:pt x="111440" y="378946"/>
                  </a:lnTo>
                  <a:cubicBezTo>
                    <a:pt x="81884" y="378946"/>
                    <a:pt x="53539" y="367205"/>
                    <a:pt x="32640" y="346306"/>
                  </a:cubicBezTo>
                  <a:cubicBezTo>
                    <a:pt x="11741" y="325407"/>
                    <a:pt x="0" y="297062"/>
                    <a:pt x="0" y="267506"/>
                  </a:cubicBezTo>
                  <a:lnTo>
                    <a:pt x="0" y="111440"/>
                  </a:lnTo>
                  <a:cubicBezTo>
                    <a:pt x="0" y="81884"/>
                    <a:pt x="11741" y="53539"/>
                    <a:pt x="32640" y="32640"/>
                  </a:cubicBezTo>
                  <a:cubicBezTo>
                    <a:pt x="53539" y="11741"/>
                    <a:pt x="81884" y="0"/>
                    <a:pt x="111440" y="0"/>
                  </a:cubicBezTo>
                  <a:close/>
                </a:path>
              </a:pathLst>
            </a:custGeom>
            <a:ln w="85725" cap="rnd">
              <a:solidFill>
                <a:srgbClr val="5CA3B2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829708" cy="436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101144" y="5762530"/>
            <a:ext cx="6085713" cy="517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sz="28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Questions &amp; Discussion Welcome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535564" y="1028700"/>
            <a:ext cx="642386" cy="729984"/>
          </a:xfrm>
          <a:custGeom>
            <a:avLst/>
            <a:gdLst/>
            <a:ahLst/>
            <a:cxnLst/>
            <a:rect r="r" b="b" t="t" l="l"/>
            <a:pathLst>
              <a:path h="729984" w="642386">
                <a:moveTo>
                  <a:pt x="0" y="0"/>
                </a:moveTo>
                <a:lnTo>
                  <a:pt x="642387" y="0"/>
                </a:lnTo>
                <a:lnTo>
                  <a:pt x="642387" y="729984"/>
                </a:lnTo>
                <a:lnTo>
                  <a:pt x="0" y="7299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398466" y="8255873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1028700"/>
            <a:ext cx="860834" cy="1002427"/>
          </a:xfrm>
          <a:custGeom>
            <a:avLst/>
            <a:gdLst/>
            <a:ahLst/>
            <a:cxnLst/>
            <a:rect r="r" b="b" t="t" l="l"/>
            <a:pathLst>
              <a:path h="1002427" w="860834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DAHLnmKVp0k</dc:identifier>
  <dcterms:modified xsi:type="dcterms:W3CDTF">2011-08-01T06:04:30Z</dcterms:modified>
  <cp:revision>1</cp:revision>
  <dc:title>DA120B Student Performance Prediction</dc:title>
</cp:coreProperties>
</file>